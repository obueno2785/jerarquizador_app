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Peso</c:v>
                </c:pt>
              </c:strCache>
            </c:strRef>
          </c:tx>
          <c:spPr>
            <a:solidFill>
              <a:srgbClr val="05614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141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 · Capacidad de generar ingresos</c:v>
                  </c:pt>
                  <c:pt idx="1">
                    <c:v>5 · Monto de inversión</c:v>
                  </c:pt>
                  <c:pt idx="2">
                    <c:v>7 · Transferencia de riesgos</c:v>
                  </c:pt>
                  <c:pt idx="3">
                    <c:v>4 · Población beneficiada</c:v>
                  </c:pt>
                  <c:pt idx="4">
                    <c:v>8 · Avance de los estudios</c:v>
                  </c:pt>
                  <c:pt idx="5">
                    <c:v>3 · Nivel de pobreza</c:v>
                  </c:pt>
                  <c:pt idx="6">
                    <c:v>6 · Impulso territorial</c:v>
                  </c:pt>
                  <c:pt idx="7">
                    <c:v>1 · Inclusión en el PNI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16</c:v>
                </c:pt>
                <c:pt idx="1">
                  <c:v>12</c:v>
                </c:pt>
                <c:pt idx="2">
                  <c:v>12</c:v>
                </c:pt>
                <c:pt idx="3">
                  <c:v>10</c:v>
                </c:pt>
                <c:pt idx="4">
                  <c:v>10</c:v>
                </c:pt>
                <c:pt idx="5">
                  <c:v>9</c:v>
                </c:pt>
                <c:pt idx="6">
                  <c:v>9</c:v>
                </c:pt>
                <c:pt idx="7">
                  <c:v>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4141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4A4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Cartera</c:v>
                </c:pt>
              </c:strCache>
            </c:strRef>
          </c:tx>
          <c:spPr>
            <a:solidFill>
              <a:srgbClr val="8A94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F4A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Transporte</c:v>
                  </c:pt>
                  <c:pt idx="1">
                    <c:v>Agua y saneam.</c:v>
                  </c:pt>
                  <c:pt idx="2">
                    <c:v>Salud</c:v>
                  </c:pt>
                  <c:pt idx="3">
                    <c:v>Agric. e irrig.</c:v>
                  </c:pt>
                  <c:pt idx="4">
                    <c:v>Turismo</c:v>
                  </c:pt>
                  <c:pt idx="5">
                    <c:v>Hidrocarburos</c:v>
                  </c:pt>
                  <c:pt idx="6">
                    <c:v>Educación</c:v>
                  </c:pt>
                  <c:pt idx="7">
                    <c:v>Tecnología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27</c:v>
                </c:pt>
                <c:pt idx="1">
                  <c:v>17</c:v>
                </c:pt>
                <c:pt idx="2">
                  <c:v>10</c:v>
                </c:pt>
                <c:pt idx="3">
                  <c:v>6</c:v>
                </c:pt>
                <c:pt idx="4">
                  <c:v>5</c:v>
                </c:pt>
                <c:pt idx="5">
                  <c:v>3</c:v>
                </c:pt>
                <c:pt idx="6">
                  <c:v>3</c:v>
                </c:pt>
                <c:pt idx="7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Seleccionados</c:v>
                </c:pt>
              </c:strCache>
            </c:strRef>
          </c:tx>
          <c:spPr>
            <a:solidFill>
              <a:srgbClr val="0561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F4A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Transporte</c:v>
                  </c:pt>
                  <c:pt idx="1">
                    <c:v>Agua y saneam.</c:v>
                  </c:pt>
                  <c:pt idx="2">
                    <c:v>Salud</c:v>
                  </c:pt>
                  <c:pt idx="3">
                    <c:v>Agric. e irrig.</c:v>
                  </c:pt>
                  <c:pt idx="4">
                    <c:v>Turismo</c:v>
                  </c:pt>
                  <c:pt idx="5">
                    <c:v>Hidrocarburos</c:v>
                  </c:pt>
                  <c:pt idx="6">
                    <c:v>Educación</c:v>
                  </c:pt>
                  <c:pt idx="7">
                    <c:v>Tecnología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8</c:v>
                </c:pt>
                <c:pt idx="1">
                  <c:v>5</c:v>
                </c:pt>
                <c:pt idx="2">
                  <c:v>4</c:v>
                </c:pt>
                <c:pt idx="3">
                  <c:v>2</c:v>
                </c:pt>
                <c:pt idx="4">
                  <c:v>5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F4A4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3F4A4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1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3F4A46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Diferencia</c:v>
                </c:pt>
              </c:strCache>
            </c:strRef>
          </c:tx>
          <c:spPr>
            <a:solidFill>
              <a:srgbClr val="05614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141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561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61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61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561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561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5614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05614A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8A4A08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2 · Generar ingresos</c:v>
                  </c:pt>
                  <c:pt idx="1">
                    <c:v>1 · Inclusión en el PNI</c:v>
                  </c:pt>
                  <c:pt idx="2">
                    <c:v>3 · Nivel de pobreza</c:v>
                  </c:pt>
                  <c:pt idx="3">
                    <c:v>7 · Transferencia de riesgos</c:v>
                  </c:pt>
                  <c:pt idx="4">
                    <c:v>8 · Avance de estudios</c:v>
                  </c:pt>
                  <c:pt idx="5">
                    <c:v>5 · Monto de inversión</c:v>
                  </c:pt>
                  <c:pt idx="6">
                    <c:v>4 · Población beneficiada</c:v>
                  </c:pt>
                  <c:pt idx="7">
                    <c:v>6 · Impulso territorial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0.259</c:v>
                </c:pt>
                <c:pt idx="1">
                  <c:v>0.216</c:v>
                </c:pt>
                <c:pt idx="2">
                  <c:v>0.163</c:v>
                </c:pt>
                <c:pt idx="3">
                  <c:v>0.13</c:v>
                </c:pt>
                <c:pt idx="4">
                  <c:v>0.075</c:v>
                </c:pt>
                <c:pt idx="5">
                  <c:v>0.024</c:v>
                </c:pt>
                <c:pt idx="6">
                  <c:v>0.015</c:v>
                </c:pt>
                <c:pt idx="7">
                  <c:v>-0.14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4141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3F4A4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del portafolio</c:v>
                </c:pt>
              </c:strCache>
            </c:strRef>
          </c:tx>
          <c:spPr>
            <a:solidFill>
              <a:srgbClr val="8A9490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F4A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Transporte</c:v>
                  </c:pt>
                  <c:pt idx="1">
                    <c:v>Agua y saneam.</c:v>
                  </c:pt>
                  <c:pt idx="2">
                    <c:v>Salud</c:v>
                  </c:pt>
                  <c:pt idx="3">
                    <c:v>Agric. e irrig.</c:v>
                  </c:pt>
                  <c:pt idx="4">
                    <c:v>Turismo</c:v>
                  </c:pt>
                  <c:pt idx="5">
                    <c:v>Hidrocarburos</c:v>
                  </c:pt>
                  <c:pt idx="6">
                    <c:v>Educación</c:v>
                  </c:pt>
                  <c:pt idx="7">
                    <c:v>Tecnología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37</c:v>
                </c:pt>
                <c:pt idx="1">
                  <c:v>23.3</c:v>
                </c:pt>
                <c:pt idx="2">
                  <c:v>13.7</c:v>
                </c:pt>
                <c:pt idx="3">
                  <c:v>8.2</c:v>
                </c:pt>
                <c:pt idx="4">
                  <c:v>6.8</c:v>
                </c:pt>
                <c:pt idx="5">
                  <c:v>4.1</c:v>
                </c:pt>
                <c:pt idx="6">
                  <c:v>4.1</c:v>
                </c:pt>
                <c:pt idx="7">
                  <c:v>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% de la selección general</c:v>
                </c:pt>
              </c:strCache>
            </c:strRef>
          </c:tx>
          <c:spPr>
            <a:solidFill>
              <a:srgbClr val="05614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F4A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Transporte</c:v>
                  </c:pt>
                  <c:pt idx="1">
                    <c:v>Agua y saneam.</c:v>
                  </c:pt>
                  <c:pt idx="2">
                    <c:v>Salud</c:v>
                  </c:pt>
                  <c:pt idx="3">
                    <c:v>Agric. e irrig.</c:v>
                  </c:pt>
                  <c:pt idx="4">
                    <c:v>Turismo</c:v>
                  </c:pt>
                  <c:pt idx="5">
                    <c:v>Hidrocarburos</c:v>
                  </c:pt>
                  <c:pt idx="6">
                    <c:v>Educación</c:v>
                  </c:pt>
                  <c:pt idx="7">
                    <c:v>Tecnología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68.2</c:v>
                </c:pt>
                <c:pt idx="1">
                  <c:v>13.6</c:v>
                </c:pt>
                <c:pt idx="2">
                  <c:v>0</c:v>
                </c:pt>
                <c:pt idx="3">
                  <c:v>9.1</c:v>
                </c:pt>
                <c:pt idx="4">
                  <c:v>0</c:v>
                </c:pt>
                <c:pt idx="5">
                  <c:v>4.5</c:v>
                </c:pt>
                <c:pt idx="6">
                  <c:v>0</c:v>
                </c:pt>
                <c:pt idx="7">
                  <c:v>4.5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F4A4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3F4A4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2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3F4A46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Resumen ejecutivo de la metodología de priorización de APP del Gobierno Nacional aprobada por el MEF en julio de 2026, aplicada a los 73 proyectos que hoy están en Formulación y Estructuración.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indicador 2 concentra el mayor peso individual: 16 %. Junto con el 5 y el 7, tres indicadores económico-financieros suman 40 % del puntaje.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Turismo selecciona 5 de 5 porque cuatro teleféricos empatan exactamente en el valor de corte y la regla admite a todos los empatados.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cierre propone una secuencia de trabajo: primero lo interno (78), luego lo contractual (42), y en paralelo resolver la capacidad presupuestal de los 6 seleccionados que no la tienen.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515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FC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 · AGOSTO 2026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1463040"/>
            <a:ext cx="8595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Priorización de proyectos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Asociación Público Privada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324612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6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metodología multicriterio de la RD 002-2026-EF/68.01, aplicada al portafolio de ProInversión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" y="443484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FC4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85800" y="510235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proyectos evaluados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535838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5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Formulación y Estructuración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297680" y="443484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FC4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US$ 29 057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297680" y="510235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millones en cartera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297680" y="535838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5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sectores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909560" y="443484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FC4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7909560" y="510235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la línea de corte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909560" y="535838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5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US$ 8 632 MM · 30 %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6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CAMBIO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criterios propios a un puntaje común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41732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F4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MEF centralizó lo que antes fijaba cada entidad por separado. La priorización deja de ser una decisión discrecional y pasa a ser un cálculo reproducible.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5120640" cy="3429000"/>
          </a:xfrm>
          <a:prstGeom prst="roundRect">
            <a:avLst>
              <a:gd name="adj" fmla="val 2400"/>
            </a:avLst>
          </a:prstGeom>
          <a:solidFill>
            <a:srgbClr val="F5F7F6"/>
          </a:solidFill>
          <a:ln w="9525">
            <a:solidFill>
              <a:srgbClr val="D3DAD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24231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5A62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1069848" y="3035808"/>
            <a:ext cx="146304" cy="146304"/>
          </a:xfrm>
          <a:prstGeom prst="ellipse">
            <a:avLst/>
          </a:prstGeom>
          <a:solidFill>
            <a:srgbClr val="5A625E"/>
          </a:solidFill>
          <a:ln/>
        </p:spPr>
      </p:sp>
      <p:sp>
        <p:nvSpPr>
          <p:cNvPr id="8" name="Text 6"/>
          <p:cNvSpPr/>
          <p:nvPr/>
        </p:nvSpPr>
        <p:spPr>
          <a:xfrm>
            <a:off x="1069848" y="3035808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71600" y="294436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3F4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entidad fijaba sus propios criterios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069848" y="3639312"/>
            <a:ext cx="146304" cy="146304"/>
          </a:xfrm>
          <a:prstGeom prst="ellipse">
            <a:avLst/>
          </a:prstGeom>
          <a:solidFill>
            <a:srgbClr val="5A625E"/>
          </a:solidFill>
          <a:ln/>
        </p:spPr>
      </p:sp>
      <p:sp>
        <p:nvSpPr>
          <p:cNvPr id="11" name="Text 9"/>
          <p:cNvSpPr/>
          <p:nvPr/>
        </p:nvSpPr>
        <p:spPr>
          <a:xfrm>
            <a:off x="1069848" y="3639312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71600" y="354787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3F4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ponderaciones comparables entre proyectos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1069848" y="4242816"/>
            <a:ext cx="146304" cy="146304"/>
          </a:xfrm>
          <a:prstGeom prst="ellipse">
            <a:avLst/>
          </a:prstGeom>
          <a:solidFill>
            <a:srgbClr val="5A625E"/>
          </a:solidFill>
          <a:ln/>
        </p:spPr>
      </p:sp>
      <p:sp>
        <p:nvSpPr>
          <p:cNvPr id="14" name="Text 12"/>
          <p:cNvSpPr/>
          <p:nvPr/>
        </p:nvSpPr>
        <p:spPr>
          <a:xfrm>
            <a:off x="1069848" y="4242816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371600" y="415137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3F4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línea de corte explícita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1069848" y="4846320"/>
            <a:ext cx="146304" cy="146304"/>
          </a:xfrm>
          <a:prstGeom prst="ellipse">
            <a:avLst/>
          </a:prstGeom>
          <a:solidFill>
            <a:srgbClr val="5A625E"/>
          </a:solidFill>
          <a:ln/>
        </p:spPr>
      </p:sp>
      <p:sp>
        <p:nvSpPr>
          <p:cNvPr id="17" name="Text 15"/>
          <p:cNvSpPr/>
          <p:nvPr/>
        </p:nvSpPr>
        <p:spPr>
          <a:xfrm>
            <a:off x="1069848" y="4846320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71600" y="47548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3F4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Sustento narrativo, difícil de auditar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309360" y="2148840"/>
            <a:ext cx="5120640" cy="3429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3DAD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75120" y="24231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561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la RD 002-2026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6693408" y="3035808"/>
            <a:ext cx="146304" cy="146304"/>
          </a:xfrm>
          <a:prstGeom prst="ellipse">
            <a:avLst/>
          </a:prstGeom>
          <a:solidFill>
            <a:srgbClr val="05614A"/>
          </a:solidFill>
          <a:ln/>
        </p:spPr>
      </p:sp>
      <p:sp>
        <p:nvSpPr>
          <p:cNvPr id="22" name="Text 20"/>
          <p:cNvSpPr/>
          <p:nvPr/>
        </p:nvSpPr>
        <p:spPr>
          <a:xfrm>
            <a:off x="6693408" y="3035808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995160" y="294436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Diez indicadores con pesos fijados por norma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693408" y="3639312"/>
            <a:ext cx="146304" cy="146304"/>
          </a:xfrm>
          <a:prstGeom prst="ellipse">
            <a:avLst/>
          </a:prstGeom>
          <a:solidFill>
            <a:srgbClr val="05614A"/>
          </a:solidFill>
          <a:ln/>
        </p:spPr>
      </p:sp>
      <p:sp>
        <p:nvSpPr>
          <p:cNvPr id="25" name="Text 23"/>
          <p:cNvSpPr/>
          <p:nvPr/>
        </p:nvSpPr>
        <p:spPr>
          <a:xfrm>
            <a:off x="6693408" y="3639312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995160" y="354787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común de 0 a 1 para todo proyecto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6693408" y="4242816"/>
            <a:ext cx="146304" cy="146304"/>
          </a:xfrm>
          <a:prstGeom prst="ellipse">
            <a:avLst/>
          </a:prstGeom>
          <a:solidFill>
            <a:srgbClr val="05614A"/>
          </a:solidFill>
          <a:ln/>
        </p:spPr>
      </p:sp>
      <p:sp>
        <p:nvSpPr>
          <p:cNvPr id="28" name="Text 26"/>
          <p:cNvSpPr/>
          <p:nvPr/>
        </p:nvSpPr>
        <p:spPr>
          <a:xfrm>
            <a:off x="6693408" y="4242816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995160" y="415137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 en el percentil 70 de cada sector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6693408" y="4846320"/>
            <a:ext cx="146304" cy="146304"/>
          </a:xfrm>
          <a:prstGeom prst="ellipse">
            <a:avLst/>
          </a:prstGeom>
          <a:solidFill>
            <a:srgbClr val="05614A"/>
          </a:solidFill>
          <a:ln/>
        </p:spPr>
      </p:sp>
      <p:sp>
        <p:nvSpPr>
          <p:cNvPr id="31" name="Text 29"/>
          <p:cNvSpPr/>
          <p:nvPr/>
        </p:nvSpPr>
        <p:spPr>
          <a:xfrm>
            <a:off x="6693408" y="4846320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995160" y="47548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 por indicador y trazabilidad de la fuente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685800" y="629107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6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Directoral N.° 002-2026-EF/68.01 · MEF, Dirección General de Política de Promoción de la Inversión Privada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6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etapas, en este orden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512064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9525">
            <a:solidFill>
              <a:srgbClr val="D3DAD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1560" y="2194560"/>
            <a:ext cx="566928" cy="566928"/>
          </a:xfrm>
          <a:prstGeom prst="ellipse">
            <a:avLst/>
          </a:prstGeom>
          <a:solidFill>
            <a:srgbClr val="05614A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21945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737360" y="224028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Criterios de elegibilidad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51560" y="2971800"/>
            <a:ext cx="4389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F4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de entrada: ¿puede este proyecto desarrollarse como APP? No otorga puntaje. Se aplica según la RD 004-2016-EF/68.01.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1051560" y="4114800"/>
            <a:ext cx="4389120" cy="566928"/>
          </a:xfrm>
          <a:prstGeom prst="roundRect">
            <a:avLst>
              <a:gd name="adj" fmla="val 9677"/>
            </a:avLst>
          </a:prstGeom>
          <a:solidFill>
            <a:srgbClr val="E6F0EC"/>
          </a:solidFill>
          <a:ln/>
        </p:spPr>
      </p:sp>
      <p:sp>
        <p:nvSpPr>
          <p:cNvPr id="10" name="Text 8"/>
          <p:cNvSpPr/>
          <p:nvPr/>
        </p:nvSpPr>
        <p:spPr>
          <a:xfrm>
            <a:off x="1252728" y="4114800"/>
            <a:ext cx="3986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56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73 proyectos del portafolio ya lo superaron.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309360" y="1874520"/>
            <a:ext cx="512064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9525">
            <a:solidFill>
              <a:srgbClr val="D3DAD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675120" y="2194560"/>
            <a:ext cx="566928" cy="566928"/>
          </a:xfrm>
          <a:prstGeom prst="ellipse">
            <a:avLst/>
          </a:prstGeom>
          <a:solidFill>
            <a:srgbClr val="05614A"/>
          </a:solidFill>
          <a:ln/>
        </p:spPr>
      </p:sp>
      <p:sp>
        <p:nvSpPr>
          <p:cNvPr id="13" name="Text 11"/>
          <p:cNvSpPr/>
          <p:nvPr/>
        </p:nvSpPr>
        <p:spPr>
          <a:xfrm>
            <a:off x="6675120" y="21945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360920" y="224028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Evaluación multicriterio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675120" y="2971800"/>
            <a:ext cx="4389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F4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Diez indicadores con escalas propias se normalizan a 0–1 y se ponderan. El puntaje ordena los proyectos dentro de su sector.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675120" y="4114800"/>
            <a:ext cx="4389120" cy="566928"/>
          </a:xfrm>
          <a:prstGeom prst="roundRect">
            <a:avLst>
              <a:gd name="adj" fmla="val 9677"/>
            </a:avLst>
          </a:prstGeom>
          <a:solidFill>
            <a:srgbClr val="E6F0EC"/>
          </a:solidFill>
          <a:ln/>
        </p:spPr>
      </p:sp>
      <p:sp>
        <p:nvSpPr>
          <p:cNvPr id="17" name="Text 15"/>
          <p:cNvSpPr/>
          <p:nvPr/>
        </p:nvSpPr>
        <p:spPr>
          <a:xfrm>
            <a:off x="6876288" y="4114800"/>
            <a:ext cx="3986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56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etapa que produce la jerarquía.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870448" y="3246120"/>
            <a:ext cx="457200" cy="384048"/>
          </a:xfrm>
          <a:prstGeom prst="rightArrow">
            <a:avLst/>
          </a:prstGeom>
          <a:solidFill>
            <a:srgbClr val="05614A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53492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3F4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 del corte, y ya fuera del puntaje, operan dos restricciones: el límite de capacidad de financiamiento aprobado por el MEF y la capacidad operativa de PROINVERSIÓN.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6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DIEZ INDICADORES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Ocho obligatorios pesan 85 %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41732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F4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pesos los fijó el MEF a partir de la valoración de un grupo de expertos. Los dos indicadores opcionales se reparten el 15 % restante según la evidencia disponible.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194560"/>
          <a:ext cx="72237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092440" y="2194560"/>
            <a:ext cx="3383280" cy="3657600"/>
          </a:xfrm>
          <a:prstGeom prst="roundRect">
            <a:avLst>
              <a:gd name="adj" fmla="val 2432"/>
            </a:avLst>
          </a:prstGeom>
          <a:solidFill>
            <a:srgbClr val="FFFFFF"/>
          </a:solidFill>
          <a:ln w="9525">
            <a:solidFill>
              <a:srgbClr val="D3DAD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0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4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fijo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412480" y="2724912"/>
            <a:ext cx="2743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61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85 %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8412480" y="34747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F4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1 a 8. Se aplican siempre, en todo proceso de priorización sectorial.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0" y="4297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4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opcional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412480" y="45720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A4A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15 %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8412480" y="51663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F4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· Brecha de infraestructura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F4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Declaración de viabilidad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6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CÁLCULO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pasos por indicador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011680"/>
            <a:ext cx="3337560" cy="26060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D3DAD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286000"/>
            <a:ext cx="512064" cy="512064"/>
          </a:xfrm>
          <a:prstGeom prst="ellipse">
            <a:avLst/>
          </a:prstGeom>
          <a:solidFill>
            <a:srgbClr val="05614A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2860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45920" y="2340864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Calificar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2999232"/>
            <a:ext cx="2697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F4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indicador tiene su escala propia según su ficha del Anexo 2: binaria para la inclusión en el PNI, 1 a 3 para la capacidad de generar ingresos, 1 a 10 para los beneficiarios.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70832" y="2011680"/>
            <a:ext cx="3337560" cy="26060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D3DAD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90872" y="2286000"/>
            <a:ext cx="512064" cy="512064"/>
          </a:xfrm>
          <a:prstGeom prst="ellipse">
            <a:avLst/>
          </a:prstGeom>
          <a:solidFill>
            <a:srgbClr val="05614A"/>
          </a:solidFill>
          <a:ln/>
        </p:spPr>
      </p:sp>
      <p:sp>
        <p:nvSpPr>
          <p:cNvPr id="11" name="Text 9"/>
          <p:cNvSpPr/>
          <p:nvPr/>
        </p:nvSpPr>
        <p:spPr>
          <a:xfrm>
            <a:off x="4690872" y="22860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330952" y="2340864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Normalizar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690872" y="2999232"/>
            <a:ext cx="2697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F4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puntaje se lleva a una escala común de 0 a 1 por rango fijo. Se usa el rango teórico de la escala, no el observado, así que sumar proyectos no altera a los demás.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55864" y="2011680"/>
            <a:ext cx="3337560" cy="26060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D3DAD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75904" y="2286000"/>
            <a:ext cx="512064" cy="512064"/>
          </a:xfrm>
          <a:prstGeom prst="ellipse">
            <a:avLst/>
          </a:prstGeom>
          <a:solidFill>
            <a:srgbClr val="05614A"/>
          </a:solidFill>
          <a:ln/>
        </p:spPr>
      </p:sp>
      <p:sp>
        <p:nvSpPr>
          <p:cNvPr id="16" name="Text 14"/>
          <p:cNvSpPr/>
          <p:nvPr/>
        </p:nvSpPr>
        <p:spPr>
          <a:xfrm>
            <a:off x="8375904" y="22860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015984" y="2340864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Ponderar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375904" y="2999232"/>
            <a:ext cx="2697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F4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multiplica por el peso del indicador. El puntaje total del proyecto es la suma de todos los puntajes ponderados, entre 0 y 1.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85800" y="4937760"/>
            <a:ext cx="10789920" cy="914400"/>
          </a:xfrm>
          <a:prstGeom prst="roundRect">
            <a:avLst>
              <a:gd name="adj" fmla="val 9000"/>
            </a:avLst>
          </a:prstGeom>
          <a:solidFill>
            <a:srgbClr val="0B1F1A"/>
          </a:solidFill>
          <a:ln/>
        </p:spPr>
      </p:sp>
      <p:sp>
        <p:nvSpPr>
          <p:cNvPr id="20" name="Text 18"/>
          <p:cNvSpPr/>
          <p:nvPr/>
        </p:nvSpPr>
        <p:spPr>
          <a:xfrm>
            <a:off x="1143000" y="49377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(P − P mín) ÷ (P máx − P mín)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5760720" y="493776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E6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Normalización de rango fijo: evita que un indicador medido de 1 a 10 pese más que uno medido de 1 a 3 solo por su escala.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6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LETRA CHICA CON CONSECUENCIAS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reglas que mueven el resultado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20240"/>
            <a:ext cx="5120640" cy="36576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9525">
            <a:solidFill>
              <a:srgbClr val="D3DAD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1945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Reponderación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051560" y="2743200"/>
            <a:ext cx="4389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F4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dentro de un sector todos los proyectos sacan el mismo valor en un indicador obligatorio, ese indicador no discrimina: se retira del cálculo y su peso se reparte entre los demás, manteniendo el bloque en 85 %.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1051560" y="4315968"/>
            <a:ext cx="4389120" cy="960120"/>
          </a:xfrm>
          <a:prstGeom prst="roundRect">
            <a:avLst>
              <a:gd name="adj" fmla="val 5714"/>
            </a:avLst>
          </a:prstGeom>
          <a:solidFill>
            <a:srgbClr val="E6F0EC"/>
          </a:solidFill>
          <a:ln/>
        </p:spPr>
      </p:sp>
      <p:sp>
        <p:nvSpPr>
          <p:cNvPr id="8" name="Text 6"/>
          <p:cNvSpPr/>
          <p:nvPr/>
        </p:nvSpPr>
        <p:spPr>
          <a:xfrm>
            <a:off x="1252728" y="4315968"/>
            <a:ext cx="39867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056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mismo indicador puede pesar distinto en Salud y en Transporte. En sectores con pocos proyectos llega a retirar la mitad de los indicadores.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920240"/>
            <a:ext cx="5120640" cy="36576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9525">
            <a:solidFill>
              <a:srgbClr val="D3DAD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75120" y="21945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Línea de corte P70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675120" y="2743200"/>
            <a:ext cx="4389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F4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proyectos se ordenan de mayor a menor y solo avanza el tercio superior: el percentil 70 de cada sector, calculado únicamente con los proyectos de ese sector.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675120" y="4315968"/>
            <a:ext cx="4389120" cy="960120"/>
          </a:xfrm>
          <a:prstGeom prst="roundRect">
            <a:avLst>
              <a:gd name="adj" fmla="val 5714"/>
            </a:avLst>
          </a:prstGeom>
          <a:solidFill>
            <a:srgbClr val="E6F0EC"/>
          </a:solidFill>
          <a:ln/>
        </p:spPr>
      </p:sp>
      <p:sp>
        <p:nvSpPr>
          <p:cNvPr id="13" name="Text 11"/>
          <p:cNvSpPr/>
          <p:nvPr/>
        </p:nvSpPr>
        <p:spPr>
          <a:xfrm>
            <a:off x="6876288" y="4315968"/>
            <a:ext cx="39867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056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norma ordena y corta por sector, no en una lista única. Con empates exactos en el valor de corte pasan todos los empatados.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6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SOBRE EL PORTAFOLIO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 de 73 proyectos pasan el corte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41732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F4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Aplicando la metodología a los 73 proyectos APP hoy en Formulación y Estructuración, por US$ 29 057 millones.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02920" y="2148840"/>
          <a:ext cx="694944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2286000"/>
            <a:ext cx="37033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9525">
            <a:solidFill>
              <a:srgbClr val="D3DAD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046720" y="240487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61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US$ 8 632 MM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046720" y="283464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inversión comprometida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046720" y="304495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6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30 % del portafolio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72400" y="3520440"/>
            <a:ext cx="37033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9525">
            <a:solidFill>
              <a:srgbClr val="D3DAD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46720" y="363931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61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8046720" y="406908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PNI 2026-2031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046720" y="427939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6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portafolio priorizado del DS 039-2026-EF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772400" y="4754880"/>
            <a:ext cx="37033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9525">
            <a:solidFill>
              <a:srgbClr val="D3DAD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046720" y="487375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61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8046720" y="530352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rankings sectoriales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8046720" y="551383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6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corte P70 independiente por sector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6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indicador 2 decide la cartera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41732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F4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 entre el valor normalizado promedio de los proyectos seleccionados y el del resto. Cuanto mayor la diferencia, más está decidiendo ese indicador.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514600"/>
          <a:ext cx="70408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863840" y="2514600"/>
            <a:ext cx="361188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9525">
            <a:solidFill>
              <a:srgbClr val="D3DAD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183880" y="27889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 también el dato más barato de precisar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183880" y="3566160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F4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16 % de peso, la clasificación autofinanciada frente a cofinanciada es lo que más mueve el ranking.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F4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proyectos requieren solo revisar si el contrato prevé tarifa o peaje al usuario.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F4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indicador 6 sale invertido: los proyectos bajo el corte puntúan mejor en impulso territorial.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6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Cortar en una sola lista concentra la cartera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41732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F4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presupuesto se asigna a nivel general en vez de por sector, el equilibrio intersectorial deja de estar garantizado por el método.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02920" y="2514600"/>
          <a:ext cx="72237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001000" y="2514600"/>
            <a:ext cx="3474720" cy="1508760"/>
          </a:xfrm>
          <a:prstGeom prst="roundRect">
            <a:avLst>
              <a:gd name="adj" fmla="val 5455"/>
            </a:avLst>
          </a:prstGeom>
          <a:solidFill>
            <a:srgbClr val="0B1F1A"/>
          </a:solidFill>
          <a:ln/>
        </p:spPr>
      </p:sp>
      <p:sp>
        <p:nvSpPr>
          <p:cNvPr id="7" name="Text 4"/>
          <p:cNvSpPr/>
          <p:nvPr/>
        </p:nvSpPr>
        <p:spPr>
          <a:xfrm>
            <a:off x="8321040" y="2633472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8A4A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8321040" y="324612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proyectos de Salud, Turismo y Educación: ninguno pasa el corte general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8001000" y="4206240"/>
            <a:ext cx="3474720" cy="15087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3DAD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321040" y="420624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3F4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una decisión de política, no un resultado técnico. El corte sectorial de la norma existe precisamente para evitarlo.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6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jerarquía es preliminar, y se sabe por qué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41732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F4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489 calificaciones aplicadas, 187 (38 %) salen de fuente oficial sin supuestos. El resto descansa en aproximaciones documentadas.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286000"/>
            <a:ext cx="3337560" cy="26060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D3DAD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487168"/>
            <a:ext cx="2697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61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1005840" y="318211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cierran en la aplicación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3675888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F4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Marcar las provincias reales del proyecto (ind. 3) y la macrozona que manda cuando el ámbito abarca varias (ind. 6).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70832" y="2286000"/>
            <a:ext cx="3337560" cy="26060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D3DAD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90872" y="2487168"/>
            <a:ext cx="2697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690872" y="318211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Necesitan el contrato o la ficha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90872" y="3675888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F4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Cofinanciada total frente a parcial (ind. 2) y el monto de inversión que ProInversión no publica (ind. 5).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55864" y="2286000"/>
            <a:ext cx="3337560" cy="26060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D3DAD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75904" y="2487168"/>
            <a:ext cx="2697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A4A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180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8375904" y="318211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Requieren el estudio técnico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375904" y="3675888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F4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Beneficiarios directos (ind. 4), matriz de riesgos preliminar (ind. 7) y nivel de ingeniería (ind. 8).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85800" y="51663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3F4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los indicadores 3 y 4 falta resolución geográfica: ProInversión publica el ámbito solo a nivel departamento. En el 7 y el 8, el dato que pide la norma solo existe dentro del estudio técnico, que no es público.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8686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FC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128016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Cerrar primero lo que no depende de terceros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85800" y="265176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4FC4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2103120" y="2706624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E6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supuestos que se cierran dentro de la propia aplicación, sin pedirle nada a nadie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3675888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4FC4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103120" y="3730752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E6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fichas de contrato para resolver el indicador 2, el de mayor peso y mayor poder de decisión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4700016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4FC4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2103120" y="475488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E6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proyectos seleccionados sin capacidad presupuestal resuelta, que hoy no son proponibles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5800" y="57150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25 % de los supuestos, concentra el indicador de mayor peso y no depende de terceros. Con eso la jerarquía pasa de preliminar a defendible ante el MEF.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Priorización de proyectos APP del Gobierno Nacional</dc:title>
  <dc:subject>PptxGenJS Presentation</dc:subject>
  <dc:creator>Jerarquizador APP</dc:creator>
  <cp:lastModifiedBy>Jerarquizador APP</cp:lastModifiedBy>
  <cp:revision>1</cp:revision>
  <dcterms:created xsi:type="dcterms:W3CDTF">2026-08-23T01:46:18Z</dcterms:created>
  <dcterms:modified xsi:type="dcterms:W3CDTF">2026-08-23T01:46:18Z</dcterms:modified>
</cp:coreProperties>
</file>